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54864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BFAEFF"/>
                </a:solidFill>
                <a:latin typeface="Aptos"/>
              </a:defRPr>
            </a:pPr>
            <a:r>
              <a:t>POWER BI • HR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6675120" cy="1417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ptos"/>
              </a:defRPr>
            </a:pPr>
            <a:r>
              <a:t>Dashboard Charts</a:t>
            </a:r>
            <a:br/>
            <a:r>
              <a:t>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46120"/>
            <a:ext cx="6492240" cy="6858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700" b="0">
                <a:solidFill>
                  <a:srgbClr val="D8E0EE"/>
                </a:solidFill>
                <a:latin typeface="Aptos"/>
              </a:defRPr>
            </a:pPr>
            <a:r>
              <a:t>What each visual represents • how it is built • what insight it gives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594360"/>
            <a:ext cx="3611880" cy="5577840"/>
          </a:xfrm>
          <a:prstGeom prst="roundRect">
            <a:avLst/>
          </a:prstGeom>
          <a:solidFill>
            <a:srgbClr val="27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47888" y="1024128"/>
            <a:ext cx="2788920" cy="987552"/>
          </a:xfrm>
          <a:prstGeom prst="round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94192" y="1133856"/>
            <a:ext cx="25146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500" b="1">
                <a:solidFill>
                  <a:srgbClr val="182236"/>
                </a:solidFill>
                <a:latin typeface="Aptos"/>
              </a:defRPr>
            </a:pPr>
            <a:r>
              <a:t>1,470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591056"/>
            <a:ext cx="25146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EMPLOYEES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47888" y="2441448"/>
            <a:ext cx="2788920" cy="987552"/>
          </a:xfrm>
          <a:prstGeom prst="round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551176"/>
            <a:ext cx="25146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500" b="1">
                <a:solidFill>
                  <a:srgbClr val="182236"/>
                </a:solidFill>
                <a:latin typeface="Aptos"/>
              </a:defRPr>
            </a:pPr>
            <a:r>
              <a:t>238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008376"/>
            <a:ext cx="25146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ATTRITION CASES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47888" y="3858768"/>
            <a:ext cx="2788920" cy="987552"/>
          </a:xfrm>
          <a:prstGeom prst="roundRect">
            <a:avLst/>
          </a:prstGeom>
          <a:solidFill>
            <a:srgbClr val="DCF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3968496"/>
            <a:ext cx="25146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500" b="1">
                <a:solidFill>
                  <a:srgbClr val="182236"/>
                </a:solidFill>
                <a:latin typeface="Aptos"/>
              </a:defRPr>
            </a:pPr>
            <a:r>
              <a:t>16.1%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4425696"/>
            <a:ext cx="251460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ATTRITION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72200"/>
            <a:ext cx="54864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AAB6C9"/>
                </a:solidFill>
                <a:latin typeface="Aptos"/>
              </a:defRPr>
            </a:pPr>
            <a:r>
              <a:t>Based on the supplied dashboard 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Dashboard Overview — What Each Visual Does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7" name="Picture 6" descr="Screenshot 2026-10-13 174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888" y="1115568"/>
            <a:ext cx="7035918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5806440"/>
            <a:ext cx="10881360" cy="4389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657082"/>
                </a:solidFill>
                <a:latin typeface="Aptos"/>
              </a:defRPr>
            </a:pPr>
            <a:r>
              <a:t>Dashboard components: slicer (Gender), KPI cards, department pie chart, age/gender stacked columns, job-role bar chart, job satisfaction gauge and overtime doughnut chart.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How to Read and Build the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POWER BI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32688" y="1371600"/>
            <a:ext cx="438912" cy="438912"/>
          </a:xfrm>
          <a:prstGeom prst="round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976" y="1481328"/>
            <a:ext cx="384048" cy="1554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344168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182236"/>
                </a:solidFill>
                <a:latin typeface="Aptos"/>
              </a:defRPr>
            </a:pPr>
            <a:r>
              <a:t>Load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353312"/>
            <a:ext cx="73152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Get Data → Excel/CSV or source 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76272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32688" y="2313432"/>
            <a:ext cx="438912" cy="438912"/>
          </a:xfrm>
          <a:prstGeom prst="round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2423160"/>
            <a:ext cx="384048" cy="1554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286000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182236"/>
                </a:solidFill>
                <a:latin typeface="Aptos"/>
              </a:defRPr>
            </a:pPr>
            <a:r>
              <a:t>Clean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295144"/>
            <a:ext cx="73152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Transform Data → check types, blanks and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118104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" y="3255264"/>
            <a:ext cx="438912" cy="438912"/>
          </a:xfrm>
          <a:prstGeom prst="round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364992"/>
            <a:ext cx="384048" cy="1554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227832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182236"/>
                </a:solidFill>
                <a:latin typeface="Aptos"/>
              </a:defRPr>
            </a:pPr>
            <a:r>
              <a:t>Create measures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36976"/>
            <a:ext cx="73152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Total Employees, Attrition Count, Attrition Rate and averages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59935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2688" y="4197096"/>
            <a:ext cx="438912" cy="438912"/>
          </a:xfrm>
          <a:prstGeom prst="round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306823"/>
            <a:ext cx="384048" cy="1554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169663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182236"/>
                </a:solidFill>
                <a:latin typeface="Aptos"/>
              </a:defRPr>
            </a:pPr>
            <a:r>
              <a:t>Add visuals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178807"/>
            <a:ext cx="73152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Choose visual type and drag fields into its wells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001768"/>
            <a:ext cx="1074420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5138928"/>
            <a:ext cx="438912" cy="438912"/>
          </a:xfrm>
          <a:prstGeom prst="round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248656"/>
            <a:ext cx="384048" cy="1554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111496"/>
            <a:ext cx="19659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182236"/>
                </a:solidFill>
                <a:latin typeface="Aptos"/>
              </a:defRPr>
            </a:pPr>
            <a:r>
              <a:t>Format &amp; filter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120640"/>
            <a:ext cx="7315200" cy="38404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Set titles, labels, colors, slicers and interactions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080760"/>
            <a:ext cx="105156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744BC2"/>
                </a:solidFill>
                <a:latin typeface="Aptos"/>
              </a:defRPr>
            </a:pPr>
            <a:r>
              <a:t>Tip: keep measures separate from raw columns so the same KPI can respond consistently to slicers and filters.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Visual 1 — KPI Cards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CARDS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084831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81912"/>
            <a:ext cx="1810512" cy="4297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1489F4"/>
                </a:solidFill>
                <a:latin typeface="Aptos"/>
              </a:defRPr>
            </a:pPr>
            <a:r>
              <a:t>1,470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103120"/>
            <a:ext cx="1847088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252E3E"/>
                </a:solidFill>
                <a:latin typeface="Aptos"/>
              </a:defRPr>
            </a:pPr>
            <a:r>
              <a:t>Overall employees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325880"/>
            <a:ext cx="2084831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1581912"/>
            <a:ext cx="1810512" cy="4297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E23DAA"/>
                </a:solidFill>
                <a:latin typeface="Aptos"/>
              </a:defRPr>
            </a:pPr>
            <a:r>
              <a:t>238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103120"/>
            <a:ext cx="1847088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252E3E"/>
                </a:solidFill>
                <a:latin typeface="Aptos"/>
              </a:defRPr>
            </a:pPr>
            <a:r>
              <a:t>Attrition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02936" y="1325880"/>
            <a:ext cx="2084831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0096" y="1581912"/>
            <a:ext cx="1810512" cy="4297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744BC2"/>
                </a:solidFill>
                <a:latin typeface="Aptos"/>
              </a:defRPr>
            </a:pPr>
            <a:r>
              <a:t>16.1%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2103120"/>
            <a:ext cx="1847088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252E3E"/>
                </a:solidFill>
                <a:latin typeface="Aptos"/>
              </a:defRPr>
            </a:pPr>
            <a:r>
              <a:t>Attrition rate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07224" y="1325880"/>
            <a:ext cx="2084831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44384" y="1581912"/>
            <a:ext cx="1810512" cy="4297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30B1D3"/>
                </a:solidFill>
                <a:latin typeface="Aptos"/>
              </a:defRPr>
            </a:pPr>
            <a:r>
              <a:t>6.50K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103120"/>
            <a:ext cx="1847088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252E3E"/>
                </a:solidFill>
                <a:latin typeface="Aptos"/>
              </a:defRPr>
            </a:pPr>
            <a:r>
              <a:t>Average monthly income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11512" y="1325880"/>
            <a:ext cx="2084831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48672" y="1581912"/>
            <a:ext cx="1810512" cy="4297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300" b="1">
                <a:solidFill>
                  <a:srgbClr val="D5414E"/>
                </a:solidFill>
                <a:latin typeface="Aptos"/>
              </a:defRPr>
            </a:pPr>
            <a:r>
              <a:t>15.21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30384" y="2103120"/>
            <a:ext cx="1847088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252E3E"/>
                </a:solidFill>
                <a:latin typeface="Aptos"/>
              </a:defRPr>
            </a:pPr>
            <a:r>
              <a:t>Average percent hike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6324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063240"/>
            <a:ext cx="73152" cy="2240280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3218688"/>
            <a:ext cx="482803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What this visual represents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630168"/>
            <a:ext cx="4800600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Cards highlight single headline measures so viewers can understand workforce size, exits, attrition percentage and compensation averages quickly.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3063240"/>
            <a:ext cx="521208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17920" y="3063240"/>
            <a:ext cx="73152" cy="224028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19088" y="3218688"/>
            <a:ext cx="482803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How to create in Power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30168"/>
            <a:ext cx="4800600" cy="1554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1. Select Card visual.</a:t>
            </a:r>
            <a:br/>
            <a:r>
              <a:t>2. Drag one measure into the data field.</a:t>
            </a:r>
            <a:br/>
            <a:r>
              <a:t>3. Set display units, decimal places and title.</a:t>
            </a:r>
            <a:br/>
            <a:r>
              <a:t>4. Duplicate for each KPI and keep formatting consistent.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657082"/>
                </a:solidFill>
                <a:latin typeface="Aptos"/>
              </a:defRPr>
            </a:pPr>
            <a:r>
              <a:t>Example measures (adjust names to match your model): Total Employees = DISTINCTCOUNT(Employee[EmployeeNumber]); Attrition Count = count employees where Attrition = Yes.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Visual 2 — Gender Slicer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3931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572768"/>
            <a:ext cx="347472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657082"/>
                </a:solidFill>
                <a:latin typeface="Aptos"/>
              </a:defRPr>
            </a:pPr>
            <a:r>
              <a:t>Gender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1874519"/>
            <a:ext cx="1600200" cy="411480"/>
          </a:xfrm>
          <a:prstGeom prst="rect">
            <a:avLst/>
          </a:prstGeom>
          <a:solidFill>
            <a:srgbClr val="DCFF39"/>
          </a:solidFill>
          <a:ln>
            <a:solidFill>
              <a:srgbClr val="25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1965960"/>
            <a:ext cx="153619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182236"/>
                </a:solidFill>
                <a:latin typeface="Aptos"/>
              </a:defRPr>
            </a:pPr>
            <a:r>
              <a:t>Female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1874519"/>
            <a:ext cx="1600200" cy="411480"/>
          </a:xfrm>
          <a:prstGeom prst="rect">
            <a:avLst/>
          </a:prstGeom>
          <a:solidFill>
            <a:srgbClr val="DCFF39"/>
          </a:solidFill>
          <a:ln>
            <a:solidFill>
              <a:srgbClr val="252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965960"/>
            <a:ext cx="1536192" cy="1828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200" b="1">
                <a:solidFill>
                  <a:srgbClr val="182236"/>
                </a:solidFill>
                <a:latin typeface="Aptos"/>
              </a:defRPr>
            </a:pPr>
            <a:r>
              <a:t>Male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1325880"/>
            <a:ext cx="57150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66360" y="1325880"/>
            <a:ext cx="73152" cy="164592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67528" y="1481328"/>
            <a:ext cx="533095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What it represents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1892807"/>
            <a:ext cx="5303520" cy="9601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A slicer is an interactive filter. Selecting Female or Male should filter the visuals on the report page that are connected to 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54680"/>
            <a:ext cx="4800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154680"/>
            <a:ext cx="73152" cy="2057400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310128"/>
            <a:ext cx="441655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How to build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3721608"/>
            <a:ext cx="4389120" cy="1371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1. Select Slicer from Visualizations.</a:t>
            </a:r>
            <a:br/>
            <a:r>
              <a:t>2. Drag Gender into the slicer field.</a:t>
            </a:r>
            <a:br/>
            <a:r>
              <a:t>3. Choose tile/button style if desired.</a:t>
            </a:r>
            <a:br/>
            <a:r>
              <a:t>4. Use Edit interactions to confirm which visuals respond.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3154680"/>
            <a:ext cx="4892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3154680"/>
            <a:ext cx="73152" cy="2057400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90488" y="3310128"/>
            <a:ext cx="450799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Insight / 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721608"/>
            <a:ext cx="4480559" cy="1371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The slicer itself does not show a finding; it lets the audience compare KPIs and charts for different gender selections. Compare rates as well as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Visual 3 — Department-wise Attrition (Pie Chart)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DEPARTMENT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Pie 6"/>
          <p:cNvSpPr/>
          <p:nvPr/>
        </p:nvSpPr>
        <p:spPr>
          <a:xfrm>
            <a:off x="914400" y="1508760"/>
            <a:ext cx="2423160" cy="2423160"/>
          </a:xfrm>
          <a:prstGeom prst="pie">
            <a:avLst/>
          </a:prstGeom>
          <a:solidFill>
            <a:srgbClr val="1489F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2331720"/>
            <a:ext cx="160020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Department</a:t>
            </a:r>
            <a:br/>
            <a:r>
              <a:t>share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280160"/>
            <a:ext cx="71323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86200" y="1280160"/>
            <a:ext cx="73152" cy="1417320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87368" y="1435607"/>
            <a:ext cx="674827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What it represents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87368" y="1847088"/>
            <a:ext cx="672084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The pie chart compares the distribution of attrition cases across departments. Slice size shows each department's share of the total shown in this visual.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251960"/>
            <a:ext cx="73152" cy="150876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407408"/>
            <a:ext cx="478231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How to build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818888"/>
            <a:ext cx="4754880" cy="8229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Choose Pie chart → Department to Legend → Attrition Count to Values. Turn on data labels for count and/or percent.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17520"/>
            <a:ext cx="48006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017520"/>
            <a:ext cx="73152" cy="2057400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172968"/>
            <a:ext cx="441655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Insight from your screenshot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584448"/>
            <a:ext cx="4389120" cy="1371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R&amp;D is the largest visible slice (133; 55.88%), Sales is next (93; 39.08%), and HR is the smallest visible slice (approximately 12; 5.04%). Verify exact counts in the PBIX.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D5414E"/>
                </a:solidFill>
                <a:latin typeface="Aptos"/>
              </a:defRPr>
            </a:pPr>
            <a:r>
              <a:t>Important: these are shares of displayed attrition cases, not department-specific attrition rates. For rates, divide each department's attrition count by its employee headcount.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Visual 4 — Employee Count by Age Group and Gender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DEMOGRAPHICS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3249777"/>
            <a:ext cx="621792" cy="1185062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17868"/>
            <a:ext cx="621792" cy="1831908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39" y="455371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0">
                <a:solidFill>
                  <a:srgbClr val="252E3E"/>
                </a:solidFill>
                <a:latin typeface="Aptos"/>
              </a:defRPr>
            </a:pPr>
            <a:r>
              <a:t>26–35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272" y="3511478"/>
            <a:ext cx="621792" cy="923361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76272" y="2109155"/>
            <a:ext cx="621792" cy="1402323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84831" y="455371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0">
                <a:solidFill>
                  <a:srgbClr val="252E3E"/>
                </a:solidFill>
                <a:latin typeface="Aptos"/>
              </a:defRPr>
            </a:pPr>
            <a:r>
              <a:t>36–45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5263" y="3941063"/>
            <a:ext cx="621792" cy="493776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55263" y="3309030"/>
            <a:ext cx="621792" cy="632033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63823" y="455371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0">
                <a:solidFill>
                  <a:srgbClr val="252E3E"/>
                </a:solidFill>
                <a:latin typeface="Aptos"/>
              </a:defRPr>
            </a:pPr>
            <a:r>
              <a:t>46–55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34256" y="4247205"/>
            <a:ext cx="621792" cy="187634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34256" y="3990441"/>
            <a:ext cx="621792" cy="256763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455371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0">
                <a:solidFill>
                  <a:srgbClr val="252E3E"/>
                </a:solidFill>
                <a:latin typeface="Aptos"/>
              </a:defRPr>
            </a:pPr>
            <a:r>
              <a:t>18–25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13248" y="4311396"/>
            <a:ext cx="621792" cy="123444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13248" y="4138574"/>
            <a:ext cx="621792" cy="172821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4553712"/>
            <a:ext cx="82296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0">
                <a:solidFill>
                  <a:srgbClr val="252E3E"/>
                </a:solidFill>
                <a:latin typeface="Aptos"/>
              </a:defRPr>
            </a:pPr>
            <a:r>
              <a:t>55+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E23DAA"/>
                </a:solidFill>
                <a:latin typeface="Aptos"/>
              </a:defRPr>
            </a:pPr>
            <a:r>
              <a:t>Female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7492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1489F4"/>
                </a:solidFill>
                <a:latin typeface="Aptos"/>
              </a:defRPr>
            </a:pPr>
            <a:r>
              <a:t>Male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1280160"/>
            <a:ext cx="4663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37960" y="1280160"/>
            <a:ext cx="73152" cy="1828800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39128" y="1435607"/>
            <a:ext cx="427939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What it represents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1847088"/>
            <a:ext cx="4251959" cy="1143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A stacked column chart shows total employee count for each age band, with each column split into Female and Male segments.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3383280"/>
            <a:ext cx="4663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37960" y="3383280"/>
            <a:ext cx="73152" cy="182880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39128" y="3538728"/>
            <a:ext cx="427939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How to build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3950208"/>
            <a:ext cx="4251959" cy="1143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Choose Stacked column chart → Age Group to X-axis → Employee Count to Y-axis → Gender to Legend. Sort age bands in the intended order.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182236"/>
                </a:solidFill>
                <a:latin typeface="Aptos"/>
              </a:defRPr>
            </a:pPr>
            <a:r>
              <a:t>Visible pattern: 26–35 is the largest displayed age band, followed by 36–45. This chart is a headcount view, not an attrition-rate 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Visual 5 — Attrition Rate by Job Role (Column Chart)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JOB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007565"/>
            <a:ext cx="658368" cy="2335834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733245"/>
            <a:ext cx="896112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39.3%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46227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800" b="0">
                <a:solidFill>
                  <a:srgbClr val="252E3E"/>
                </a:solidFill>
                <a:latin typeface="Aptos"/>
              </a:defRPr>
            </a:pPr>
            <a:r>
              <a:t>Sales Rep.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6272" y="2928823"/>
            <a:ext cx="658368" cy="1414576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57400" y="2654503"/>
            <a:ext cx="896112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23.8%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39" y="446227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800" b="0">
                <a:solidFill>
                  <a:srgbClr val="252E3E"/>
                </a:solidFill>
                <a:latin typeface="Aptos"/>
              </a:defRPr>
            </a:pPr>
            <a:r>
              <a:t>Lab Tech.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9584" y="2976372"/>
            <a:ext cx="658368" cy="1367028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0712" y="2702052"/>
            <a:ext cx="896112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23.0%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446227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800" b="0">
                <a:solidFill>
                  <a:srgbClr val="252E3E"/>
                </a:solidFill>
                <a:latin typeface="Aptos"/>
              </a:defRPr>
            </a:pPr>
            <a:r>
              <a:t>Human 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82896" y="3297326"/>
            <a:ext cx="658368" cy="1046073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64024" y="3023006"/>
            <a:ext cx="896112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17.6%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6864" y="446227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800" b="0">
                <a:solidFill>
                  <a:srgbClr val="252E3E"/>
                </a:solidFill>
                <a:latin typeface="Aptos"/>
              </a:defRPr>
            </a:pPr>
            <a:r>
              <a:t>Sales Exec.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6208" y="3392424"/>
            <a:ext cx="658368" cy="950976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17336" y="3118104"/>
            <a:ext cx="896112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16.0%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0176" y="446227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800" b="0">
                <a:solidFill>
                  <a:srgbClr val="252E3E"/>
                </a:solidFill>
                <a:latin typeface="Aptos"/>
              </a:defRPr>
            </a:pPr>
            <a:r>
              <a:t>Research Sci.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0" y="3939235"/>
            <a:ext cx="658368" cy="404164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0648" y="3664915"/>
            <a:ext cx="896112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6.8%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446227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800" b="0">
                <a:solidFill>
                  <a:srgbClr val="252E3E"/>
                </a:solidFill>
                <a:latin typeface="Aptos"/>
              </a:defRPr>
            </a:pPr>
            <a:r>
              <a:t>Health Rep.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2832" y="3957065"/>
            <a:ext cx="658368" cy="386334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3959" y="3682746"/>
            <a:ext cx="896112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6.5%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46227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800" b="0">
                <a:solidFill>
                  <a:srgbClr val="252E3E"/>
                </a:solidFill>
                <a:latin typeface="Aptos"/>
              </a:defRPr>
            </a:pPr>
            <a:r>
              <a:t>Mfg. Dir.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96144" y="4052163"/>
            <a:ext cx="658368" cy="291236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77272" y="3777843"/>
            <a:ext cx="896112" cy="21031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1">
                <a:solidFill>
                  <a:srgbClr val="182236"/>
                </a:solidFill>
                <a:latin typeface="Aptos"/>
              </a:defRPr>
            </a:pPr>
            <a:r>
              <a:t>4.9%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40112" y="4462272"/>
            <a:ext cx="11430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800" b="0">
                <a:solidFill>
                  <a:srgbClr val="252E3E"/>
                </a:solidFill>
                <a:latin typeface="Aptos"/>
              </a:defRPr>
            </a:pPr>
            <a:r>
              <a:t>Manager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1234440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31520" y="1234440"/>
            <a:ext cx="73152" cy="1417320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1389888"/>
            <a:ext cx="459943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What it represents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" y="1801368"/>
            <a:ext cx="457200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A column chart compares a numeric measure (attrition rate) across categories (job roles). Taller columns indicate higher displayed rates.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80760" y="1234440"/>
            <a:ext cx="52578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80760" y="1234440"/>
            <a:ext cx="73152" cy="141732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1389888"/>
            <a:ext cx="487375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How to build 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1801368"/>
            <a:ext cx="4846320" cy="7315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Choose Clustered column chart → Job Role to X-axis → Attrition Rate measure to Y-axis. Sort descending and enable data labels.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166360"/>
            <a:ext cx="10561320" cy="658368"/>
          </a:xfrm>
          <a:prstGeom prst="roundRect">
            <a:avLst/>
          </a:prstGeom>
          <a:solidFill>
            <a:srgbClr val="FFE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5376672"/>
            <a:ext cx="10058400" cy="25603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E23DAA"/>
                </a:solidFill>
                <a:latin typeface="Aptos"/>
              </a:defRPr>
            </a:pPr>
            <a:r>
              <a:t>Insight: Sales Representative is the clearest high-rate signal at 39.3%; investigate role demands and employee experience before assuming a cause.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Visual 6 — Average Job Satisfaction (Gauge)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920240"/>
            <a:ext cx="3886200" cy="502920"/>
          </a:xfrm>
          <a:prstGeom prst="roundRect">
            <a:avLst/>
          </a:prstGeom>
          <a:solidFill>
            <a:srgbClr val="DC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1920240"/>
            <a:ext cx="2331720" cy="502920"/>
          </a:xfrm>
          <a:prstGeom prst="round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252E3E"/>
                </a:solidFill>
                <a:latin typeface="Aptos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234440"/>
            <a:ext cx="73152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3200" b="1">
                <a:solidFill>
                  <a:srgbClr val="744BC2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06040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252E3E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54680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400" b="1">
                <a:solidFill>
                  <a:srgbClr val="182236"/>
                </a:solidFill>
                <a:latin typeface="Aptos"/>
              </a:defRPr>
            </a:pPr>
            <a:r>
              <a:t>Average Job Satisfaction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280160"/>
            <a:ext cx="5623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0" y="1280160"/>
            <a:ext cx="73152" cy="160020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435607"/>
            <a:ext cx="523951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What it represents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87568" y="1847088"/>
            <a:ext cx="521208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A gauge places one value against a minimum and maximum. Your screenshot displays an average satisfaction value of 3 on a 0–5 style scale.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0" y="3154680"/>
            <a:ext cx="56235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0" y="3154680"/>
            <a:ext cx="73152" cy="1600200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87568" y="3310128"/>
            <a:ext cx="523951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How to build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87568" y="3721608"/>
            <a:ext cx="5212080" cy="9144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Choose Gauge → Average Job Satisfaction measure to Value → set Minimum = 0 and Maximum = 5. Add a target only if your project defines 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49240"/>
            <a:ext cx="1042416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1">
                <a:solidFill>
                  <a:srgbClr val="252E3E"/>
                </a:solidFill>
                <a:latin typeface="Aptos"/>
              </a:defRPr>
            </a:pPr>
            <a:r>
              <a:t>Interpretation: an average of 3 is a mid-scale score. Break it down by role, department, overtime and attrition status to identify low-satisfaction groups.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Visual 7 — Attrition Rate by Overtime (Doughnut Chart)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WORK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1417320"/>
            <a:ext cx="2971800" cy="2971800"/>
          </a:xfrm>
          <a:prstGeom prst="ellipse">
            <a:avLst/>
          </a:prstGeom>
          <a:solidFill>
            <a:srgbClr val="DCF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64208" y="2121408"/>
            <a:ext cx="1563624" cy="1563624"/>
          </a:xfrm>
          <a:prstGeom prst="ellipse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47088" y="2670048"/>
            <a:ext cx="118872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2000" b="1">
                <a:solidFill>
                  <a:srgbClr val="182236"/>
                </a:solidFill>
                <a:latin typeface="Aptos"/>
              </a:defRPr>
            </a:pPr>
            <a:r>
              <a:t>16.1%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3063240"/>
            <a:ext cx="1005840" cy="20116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900" b="0">
                <a:solidFill>
                  <a:srgbClr val="657082"/>
                </a:solidFill>
                <a:latin typeface="Aptos"/>
              </a:defRPr>
            </a:pPr>
            <a:r>
              <a:t>overall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80160"/>
            <a:ext cx="6629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280160"/>
            <a:ext cx="73152" cy="1463040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7" y="1435607"/>
            <a:ext cx="624535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What it represents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1847088"/>
            <a:ext cx="6217920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A doughnut chart shows category proportions as ring segments. In your report, overtime Yes/No are compared and labels show attrition rates.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017520"/>
            <a:ext cx="66294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3017520"/>
            <a:ext cx="73152" cy="146304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7" y="3172968"/>
            <a:ext cx="624535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How to 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7" y="3584448"/>
            <a:ext cx="6217920" cy="7772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Choose Doughnut chart → Overtime to Legend → relevant attrition metric to Values. If you want rates, use a measure that calculates attrition rate within each overtime group.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892040"/>
            <a:ext cx="10241280" cy="804672"/>
          </a:xfrm>
          <a:prstGeom prst="roundRect">
            <a:avLst/>
          </a:prstGeom>
          <a:solidFill>
            <a:srgbClr val="FAFD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38928"/>
            <a:ext cx="978408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182236"/>
                </a:solidFill>
                <a:latin typeface="Aptos"/>
              </a:defRPr>
            </a:pPr>
            <a:r>
              <a:t>Screenshot labels: Overtime = Yes 30.6%; No 10.4%. This suggests an association worth investigating, not proof that overtime causes employees to leave.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Behind the Visuals — Measures and Field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DAX &amp; DATA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182236"/>
                </a:solidFill>
                <a:latin typeface="Aptos"/>
              </a:defRPr>
            </a:pPr>
            <a:r>
              <a:t>Common measures you may need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91640"/>
            <a:ext cx="54864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901952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1">
                <a:solidFill>
                  <a:srgbClr val="744BC2"/>
                </a:solidFill>
                <a:latin typeface="Aptos"/>
              </a:defRPr>
            </a:pPr>
            <a:r>
              <a:t>Example DAX (adapt table/column names to your PBIX)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983480" cy="2743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Total Employees =</a:t>
            </a:r>
            <a:br/>
            <a:r>
              <a:t>DISTINCTCOUNT(Employee[EmployeeNumber])</a:t>
            </a:r>
            <a:br/>
            <a:br/>
            <a:r>
              <a:t>Attrition Count =</a:t>
            </a:r>
            <a:br/>
            <a:r>
              <a:t>CALCULATE(</a:t>
            </a:r>
            <a:br/>
            <a:r>
              <a:t>    DISTINCTCOUNT(Employee[EmployeeNumber]),</a:t>
            </a:r>
            <a:br/>
            <a:r>
              <a:t>    Employee[Attrition] = "Yes"</a:t>
            </a:r>
            <a:br/>
            <a:r>
              <a:t>)</a:t>
            </a:r>
            <a:br/>
            <a:br/>
            <a:r>
              <a:t>Attrition Rate =</a:t>
            </a:r>
            <a:br/>
            <a:r>
              <a:t>DIVIDE([Attrition Count], [Total Employees], 0)</a:t>
            </a:r>
            <a:br/>
            <a:br/>
            <a:r>
              <a:t>Average Monthly Income =</a:t>
            </a:r>
            <a:br/>
            <a:r>
              <a:t>AVERAGE(Employee[MonthlyIncome])</a:t>
            </a:r>
            <a:br/>
            <a:br/>
            <a:r>
              <a:t>Average Percent Hike =</a:t>
            </a:r>
            <a:br/>
            <a:r>
              <a:t>AVERAGE(Employee[PercentSalaryHike])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91640"/>
            <a:ext cx="4709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691640"/>
            <a:ext cx="73152" cy="1508760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847088"/>
            <a:ext cx="432511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Why measures matter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2258568"/>
            <a:ext cx="4297680" cy="8229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Measures recalculate as slicers and filters change. This makes cards and charts interactive.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474720"/>
            <a:ext cx="47091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3474720"/>
            <a:ext cx="73152" cy="1508760"/>
          </a:xfrm>
          <a:prstGeom prst="rect">
            <a:avLst/>
          </a:prstGeom>
          <a:solidFill>
            <a:srgbClr val="D54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3630168"/>
            <a:ext cx="432511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Check before using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4041648"/>
            <a:ext cx="4297680" cy="822959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Your PBIX may use different table names or a different attrition-rate denominator. Confirm the existing measures rather than replacing them blindly.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33272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0">
                <a:solidFill>
                  <a:srgbClr val="657082"/>
                </a:solidFill>
                <a:latin typeface="Aptos"/>
              </a:defRPr>
            </a:pPr>
            <a:r>
              <a:t>The formulas are illustrative templates, not a claim that they exactly match the model in your file.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Formatting, Slicers and Cross-Filtering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REPORT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481328"/>
            <a:ext cx="304495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Consistent visual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892807"/>
            <a:ext cx="3017520" cy="1143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Use the same colors for gender/category labels throughout. Keep titles descriptive and data labels readable.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25880"/>
            <a:ext cx="73152" cy="182880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1481328"/>
            <a:ext cx="304495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Slicer interactions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92807"/>
            <a:ext cx="3017520" cy="1143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Select a slicer → Format ribbon / Edit interactions → decide which charts should filter or highlight.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2588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325880"/>
            <a:ext cx="73152" cy="1828800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481328"/>
            <a:ext cx="3044952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500" b="1">
                <a:solidFill>
                  <a:srgbClr val="182236"/>
                </a:solidFill>
                <a:latin typeface="Aptos"/>
              </a:defRPr>
            </a:pPr>
            <a:r>
              <a:t>Tooltips &amp; labels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1892807"/>
            <a:ext cx="3017520" cy="11430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0">
                <a:solidFill>
                  <a:srgbClr val="252E3E"/>
                </a:solidFill>
                <a:latin typeface="Aptos"/>
              </a:defRPr>
            </a:pPr>
            <a:r>
              <a:t>Use tooltips for supporting details; avoid too many labels when categories are crowded.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03320"/>
            <a:ext cx="4572000" cy="32004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800" b="1">
                <a:solidFill>
                  <a:srgbClr val="182236"/>
                </a:solidFill>
                <a:latin typeface="Aptos"/>
              </a:defRPr>
            </a:pPr>
            <a:r>
              <a:t>Recommended final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1024128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52E3E"/>
                </a:solidFill>
                <a:latin typeface="Aptos"/>
              </a:defRPr>
            </a:pPr>
            <a:r>
              <a:t>•  Check each visual's field wells: Axis, Legend, Values and Tooltips.</a:t>
            </a:r>
          </a:p>
          <a:p>
            <a:pPr>
              <a:spcAft>
                <a:spcPts val="700"/>
              </a:spcAft>
              <a:defRPr sz="1300">
                <a:solidFill>
                  <a:srgbClr val="252E3E"/>
                </a:solidFill>
                <a:latin typeface="Aptos"/>
              </a:defRPr>
            </a:pPr>
            <a:r>
              <a:t>•  Verify that age groups are sorted logically, not alphabetically.</a:t>
            </a:r>
          </a:p>
          <a:p>
            <a:pPr>
              <a:spcAft>
                <a:spcPts val="700"/>
              </a:spcAft>
              <a:defRPr sz="1300">
                <a:solidFill>
                  <a:srgbClr val="252E3E"/>
                </a:solidFill>
                <a:latin typeface="Aptos"/>
              </a:defRPr>
            </a:pPr>
            <a:r>
              <a:t>•  Check percentages and decimal places against the source measures.</a:t>
            </a:r>
          </a:p>
          <a:p>
            <a:pPr>
              <a:spcAft>
                <a:spcPts val="700"/>
              </a:spcAft>
              <a:defRPr sz="1300">
                <a:solidFill>
                  <a:srgbClr val="252E3E"/>
                </a:solidFill>
                <a:latin typeface="Aptos"/>
              </a:defRPr>
            </a:pPr>
            <a:r>
              <a:t>•  Test Female/Male slicer selections and clear all filters before presenting.</a:t>
            </a:r>
          </a:p>
          <a:p>
            <a:pPr>
              <a:spcAft>
                <a:spcPts val="700"/>
              </a:spcAft>
              <a:defRPr sz="1300">
                <a:solidFill>
                  <a:srgbClr val="252E3E"/>
                </a:solidFill>
                <a:latin typeface="Aptos"/>
              </a:defRPr>
            </a:pPr>
            <a:r>
              <a:t>•  Add alt-text or a subtitle when a chart needs context.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515600" cy="53035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400" b="1">
                <a:solidFill>
                  <a:srgbClr val="182236"/>
                </a:solidFill>
                <a:latin typeface="Aptos"/>
              </a:defRPr>
            </a:pPr>
            <a:r>
              <a:t>What the Dashboard Insights Mean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86968"/>
            <a:ext cx="868680" cy="5029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55480" y="347472"/>
            <a:ext cx="201168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1">
                <a:solidFill>
                  <a:srgbClr val="744BC2"/>
                </a:solidFill>
                <a:latin typeface="Aptos"/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92240"/>
            <a:ext cx="64008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800" b="1">
                <a:solidFill>
                  <a:srgbClr val="657082"/>
                </a:solidFill>
                <a:latin typeface="Aptos"/>
              </a:defRPr>
            </a:pPr>
            <a:r>
              <a:t>HR ANALYTICS • POWER BI CHART 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32004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r">
              <a:defRPr sz="900" b="0">
                <a:solidFill>
                  <a:srgbClr val="657082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34440"/>
            <a:ext cx="10515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120" y="1353312"/>
            <a:ext cx="73152" cy="347472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353312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182236"/>
                </a:solidFill>
                <a:latin typeface="Aptos"/>
              </a:defRPr>
            </a:pPr>
            <a:r>
              <a:t>KPI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325880"/>
            <a:ext cx="7315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252E3E"/>
                </a:solidFill>
                <a:latin typeface="Aptos"/>
              </a:defRPr>
            </a:pPr>
            <a:r>
              <a:t>Give an at-a-glance summary of headcount, attrition and averages.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84248"/>
            <a:ext cx="10515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" y="2103120"/>
            <a:ext cx="73152" cy="347472"/>
          </a:xfrm>
          <a:prstGeom prst="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103120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182236"/>
                </a:solidFill>
                <a:latin typeface="Aptos"/>
              </a:defRPr>
            </a:pPr>
            <a:r>
              <a:t>Department pie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075688"/>
            <a:ext cx="7315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252E3E"/>
                </a:solidFill>
                <a:latin typeface="Aptos"/>
              </a:defRPr>
            </a:pPr>
            <a:r>
              <a:t>Shows which departments contribute the largest share of recorded attrition cases.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734056"/>
            <a:ext cx="10515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" y="2852928"/>
            <a:ext cx="73152" cy="347472"/>
          </a:xfrm>
          <a:prstGeom prst="rect">
            <a:avLst/>
          </a:prstGeom>
          <a:solidFill>
            <a:srgbClr val="30B1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852928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182236"/>
                </a:solidFill>
                <a:latin typeface="Aptos"/>
              </a:defRPr>
            </a:pPr>
            <a:r>
              <a:t>Age/gender stacked columns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825496"/>
            <a:ext cx="7315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252E3E"/>
                </a:solidFill>
                <a:latin typeface="Aptos"/>
              </a:defRPr>
            </a:pPr>
            <a:r>
              <a:t>Shows workforce composition by age and gender; compare rates separately for retention.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483864"/>
            <a:ext cx="10515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" y="3602736"/>
            <a:ext cx="73152" cy="347472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3602736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182236"/>
                </a:solidFill>
                <a:latin typeface="Aptos"/>
              </a:defRPr>
            </a:pPr>
            <a:r>
              <a:t>Job-role columns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575304"/>
            <a:ext cx="7315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252E3E"/>
                </a:solidFill>
                <a:latin typeface="Aptos"/>
              </a:defRPr>
            </a:pPr>
            <a:r>
              <a:t>Highlights roles with higher displayed attrition rates; Sales Representative is the strongest visible signal.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233672"/>
            <a:ext cx="10515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4352544"/>
            <a:ext cx="73152" cy="347472"/>
          </a:xfrm>
          <a:prstGeom prst="rect">
            <a:avLst/>
          </a:prstGeom>
          <a:solidFill>
            <a:srgbClr val="D54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352544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182236"/>
                </a:solidFill>
                <a:latin typeface="Aptos"/>
              </a:defRPr>
            </a:pPr>
            <a:r>
              <a:t>Satisfaction gauge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325112"/>
            <a:ext cx="7315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252E3E"/>
                </a:solidFill>
                <a:latin typeface="Aptos"/>
              </a:defRPr>
            </a:pPr>
            <a:r>
              <a:t>Summarizes the average score but can hide low-scoring subgroups.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983479"/>
            <a:ext cx="1051560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DC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0120" y="5102351"/>
            <a:ext cx="73152" cy="347472"/>
          </a:xfrm>
          <a:prstGeom prst="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102351"/>
            <a:ext cx="2423160" cy="2743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200" b="1">
                <a:solidFill>
                  <a:srgbClr val="182236"/>
                </a:solidFill>
                <a:latin typeface="Aptos"/>
              </a:defRPr>
            </a:pPr>
            <a:r>
              <a:t>Overtime doughnut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074919"/>
            <a:ext cx="7315200" cy="3657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100" b="0">
                <a:solidFill>
                  <a:srgbClr val="252E3E"/>
                </a:solidFill>
                <a:latin typeface="Aptos"/>
              </a:defRPr>
            </a:pPr>
            <a:r>
              <a:t>Shows different attrition rates for overtime groups; investigate workload and role mix.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2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31520"/>
            <a:ext cx="9875520" cy="59436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ptos"/>
              </a:defRPr>
            </a:pPr>
            <a:r>
              <a:t>A good dashboard answers three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828800"/>
            <a:ext cx="10332720" cy="914400"/>
          </a:xfrm>
          <a:prstGeom prst="roundRect">
            <a:avLst/>
          </a:prstGeom>
          <a:solidFill>
            <a:srgbClr val="27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029968"/>
            <a:ext cx="502920" cy="502920"/>
          </a:xfrm>
          <a:prstGeom prst="roundRect">
            <a:avLst/>
          </a:prstGeom>
          <a:solidFill>
            <a:srgbClr val="148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2185416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984248"/>
            <a:ext cx="25603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What do we see?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993392"/>
            <a:ext cx="6126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AE1EF"/>
                </a:solidFill>
                <a:latin typeface="Aptos"/>
              </a:defRPr>
            </a:pPr>
            <a:r>
              <a:t>The visual compares categories or summarizes a measure.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99232"/>
            <a:ext cx="10332720" cy="914400"/>
          </a:xfrm>
          <a:prstGeom prst="roundRect">
            <a:avLst/>
          </a:prstGeom>
          <a:solidFill>
            <a:srgbClr val="27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3200400"/>
            <a:ext cx="502920" cy="502920"/>
          </a:xfrm>
          <a:prstGeom prst="roundRect">
            <a:avLst/>
          </a:prstGeom>
          <a:solidFill>
            <a:srgbClr val="744B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55848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154680"/>
            <a:ext cx="25603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How was it built?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163824"/>
            <a:ext cx="6126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AE1EF"/>
                </a:solidFill>
                <a:latin typeface="Aptos"/>
              </a:defRPr>
            </a:pPr>
            <a:r>
              <a:t>Fields, measures, visual type, labels and filters determine the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169664"/>
            <a:ext cx="10332720" cy="914400"/>
          </a:xfrm>
          <a:prstGeom prst="roundRect">
            <a:avLst/>
          </a:prstGeom>
          <a:solidFill>
            <a:srgbClr val="273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4370832"/>
            <a:ext cx="502920" cy="502920"/>
          </a:xfrm>
          <a:prstGeom prst="roundRect">
            <a:avLst/>
          </a:prstGeom>
          <a:solidFill>
            <a:srgbClr val="E23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4526280"/>
            <a:ext cx="457200" cy="164592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325112"/>
            <a:ext cx="2560320" cy="292608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ptos"/>
              </a:defRPr>
            </a:pPr>
            <a:r>
              <a:t>What should we do?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334256"/>
            <a:ext cx="6126480" cy="50292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300" b="0">
                <a:solidFill>
                  <a:srgbClr val="DAE1EF"/>
                </a:solidFill>
                <a:latin typeface="Aptos"/>
              </a:defRPr>
            </a:pPr>
            <a:r>
              <a:t>Use the pattern to form a question, validate it and test a targeted HR 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715000"/>
            <a:ext cx="10058400" cy="41148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400" b="1">
                <a:solidFill>
                  <a:srgbClr val="30B1D3"/>
                </a:solidFill>
                <a:latin typeface="Aptos"/>
              </a:defRPr>
            </a:pPr>
            <a:r>
              <a:t>Validate the exact measures and chart labels in the PBIX before making business claims.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26364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defRPr sz="1000" b="1">
                <a:solidFill>
                  <a:srgbClr val="BFAEFF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